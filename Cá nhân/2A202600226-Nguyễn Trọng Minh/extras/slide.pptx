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2D3F63">
              <a:alpha val="60000"/>
            </a:srgbClr>
          </a:solidFill>
          <a:ln w="12700">
            <a:solidFill>
              <a:srgbClr val="2D3F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1920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AI-Powered Education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2103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Online TA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B8A6"/>
                </a:solidFill>
              </a:rPr>
              <a:t>Trợ lý học tập 24/7 — Giảm chờ từ 24 giờ xuống dưới 3 giây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3F63"/>
          </a:solidFill>
          <a:ln w="12700">
            <a:solidFill>
              <a:srgbClr val="2D3F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Nhóm C3-C401-Day05  ·  Track VinUni–VinSchool  ·  2026-04-09  ·  v2.0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Vấn Đề &amp; Giải Pháp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8404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9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VẤN ĐỀ HIỆN TẠI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15087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Học viên chờ 4–24h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1746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để được giải đáp lỗi cơ bản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237744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😩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2377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TA xử lý 50–100 câu/ngày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2615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60–70% là FAQ lặp đi lặp lại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32461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3246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Đứt mạch học tập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34838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Anxiety cao khi gặp lỗi code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286000"/>
            <a:ext cx="502920" cy="5029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983480" y="9144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83480" y="914400"/>
            <a:ext cx="384048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969264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559552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GIẢI PHÁP: AI ONLINE TA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166360" y="1508760"/>
            <a:ext cx="384048" cy="38404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148072" y="15087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66928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Trả lời FAQ trong &lt;3 giây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669280" y="1746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24/7 không cần TA trực tiếp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166360" y="2377440"/>
            <a:ext cx="384048" cy="38404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48072" y="237744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66928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Hướng dẫn debug Socratic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669280" y="2615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gợi ý từng bước, SV tự giải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166360" y="3246120"/>
            <a:ext cx="384048" cy="38404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148072" y="32461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566928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Escalate ca khó tự động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669280" y="3483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Kèm context summary cho TA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Tiết kiệm 3–5h/ngày cho TA  ·  Học viên giảm chờ từ giờ → giây  ·  Coverage: FAQ, Debug, Escalation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Kiến Trúc Hệ Thống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08960" y="868680"/>
            <a:ext cx="292608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960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Intent Classifier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108960" y="1261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FAQ · Technical · Escalate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65960"/>
            <a:ext cx="28346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0391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FAQ Agent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24414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KB tĩnh · &lt;3s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108960" y="1965960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08960" y="1965960"/>
            <a:ext cx="283464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03911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9584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Retrieval+Synthesis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246120" y="24414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RAG · &lt;10s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943600" y="1965960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43600" y="1965960"/>
            <a:ext cx="283464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03911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64224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Escalation Agent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080760" y="24414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Summary → @TA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234440" y="164592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4343400" y="164592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7360920" y="164592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7472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3232" y="34290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Data Flywheel — Tự cải tiến liên tục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11480" y="385876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1148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13232" y="3840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👍/👎 SV rating → Correction log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514600" y="385876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51460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2816352" y="3840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TA validate → KB update (versioned)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617720" y="385876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61772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4919472" y="3840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Weekly error patterns → Curriculum insight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720840" y="385876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72084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7022592" y="3840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Retrain Classifier + Prompts / 2 tuần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Chỉ Số Đánh Giá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23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8686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Auto-answer 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563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≥ 60%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737360" y="1344168"/>
            <a:ext cx="11887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37360" y="1344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</a:rPr>
              <a:t>🚨 STOP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737360" y="1618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&lt; 40%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Đo: Weekly monitoring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8686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868680"/>
            <a:ext cx="274320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2354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02736" y="8686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SV đánh giá 'Hữu ích'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TARGET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337560" y="1563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≥ 75%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617720" y="1344168"/>
            <a:ext cx="11887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17720" y="1344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</a:rPr>
              <a:t>🚨 STOP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17720" y="1618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&lt; 60%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337560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Đo: Weekly monitoring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80760" y="8686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0760" y="868680"/>
            <a:ext cx="2743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2354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83096" y="8686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Latency FAQ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17920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TARGET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217920" y="1563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&lt; 3s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7498080" y="1344168"/>
            <a:ext cx="11887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98080" y="1344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</a:rPr>
              <a:t>🚨 STOP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7498080" y="1618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&gt; 5s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217920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Đo: Weekly monitoring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320040" y="27432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320040" y="2743200"/>
            <a:ext cx="2743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98064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22376" y="27432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Latency Debug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57200" y="3218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TARGET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57200" y="3438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&lt; 10s</a:t>
            </a:r>
            <a:endParaRPr lang="en-US" sz="2200" dirty="0"/>
          </a:p>
        </p:txBody>
      </p:sp>
      <p:sp>
        <p:nvSpPr>
          <p:cNvPr id="40" name="Shape 34"/>
          <p:cNvSpPr/>
          <p:nvPr/>
        </p:nvSpPr>
        <p:spPr>
          <a:xfrm>
            <a:off x="1737360" y="3218688"/>
            <a:ext cx="11887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173736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</a:rPr>
              <a:t>🚨 STOP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1737360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&gt; 15s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5720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Đo: Weekly monitoring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3200400" y="27432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3200400" y="274320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798064"/>
            <a:ext cx="256032" cy="25603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602736" y="27432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False neg escalation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3337560" y="3218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TARGET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3337560" y="3438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&lt; 5%</a:t>
            </a:r>
            <a:endParaRPr lang="en-US" sz="2200" dirty="0"/>
          </a:p>
        </p:txBody>
      </p:sp>
      <p:sp>
        <p:nvSpPr>
          <p:cNvPr id="50" name="Shape 43"/>
          <p:cNvSpPr/>
          <p:nvPr/>
        </p:nvSpPr>
        <p:spPr>
          <a:xfrm>
            <a:off x="4617720" y="3218688"/>
            <a:ext cx="11887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461772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</a:rPr>
              <a:t>🚨 STOP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4617720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&gt; 8%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333756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Đo: Weekly monitoring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080760" y="27432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6080760" y="274320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798064"/>
            <a:ext cx="256032" cy="256032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6483096" y="27432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Intent Classifier F1</a:t>
            </a:r>
            <a:endParaRPr lang="en-US" sz="1100" dirty="0"/>
          </a:p>
        </p:txBody>
      </p:sp>
      <p:sp>
        <p:nvSpPr>
          <p:cNvPr id="58" name="Text 50"/>
          <p:cNvSpPr/>
          <p:nvPr/>
        </p:nvSpPr>
        <p:spPr>
          <a:xfrm>
            <a:off x="6217920" y="3218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TARGET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6217920" y="3438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&gt; 85%</a:t>
            </a:r>
            <a:endParaRPr lang="en-US" sz="2200" dirty="0"/>
          </a:p>
        </p:txBody>
      </p:sp>
      <p:sp>
        <p:nvSpPr>
          <p:cNvPr id="60" name="Shape 52"/>
          <p:cNvSpPr/>
          <p:nvPr/>
        </p:nvSpPr>
        <p:spPr>
          <a:xfrm>
            <a:off x="7498080" y="3218688"/>
            <a:ext cx="11887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749808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</a:rPr>
              <a:t>🚨 STOP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7498080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&lt; 75%</a:t>
            </a:r>
            <a:endParaRPr lang="en-US" sz="1100" dirty="0"/>
          </a:p>
        </p:txBody>
      </p:sp>
      <p:sp>
        <p:nvSpPr>
          <p:cNvPr id="63" name="Text 55"/>
          <p:cNvSpPr/>
          <p:nvPr/>
        </p:nvSpPr>
        <p:spPr>
          <a:xfrm>
            <a:off x="621792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Đo: Weekly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3 Failure Modes &amp; Giải Pháp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85953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Mô tả lỗi mơ hồ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⚠ SV: "code không chạy" — không có stack trace, error message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↘ AI gợi ý chung chung → SV thất vọng → Escalate không cần thiết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393192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✅ FIX: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Detect thiếu error msg (&lt;20 tokens) → hỏi thêm context trước khi reply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488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18541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KB lỗi thời / conflict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532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⚠ Slide v1.0 + v2.0 cùng trong vector DB → LLM mix thông tin cũ+mới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862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↘ SV follow advice từ tài liệu cũ → khác với bài giảng hiện tại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423160"/>
            <a:ext cx="3931920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68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✅ FIX: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Version-tag docs, weekly audit, flag [outdated] nếu doc &gt;3 tuần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74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35112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Escalation miss ca policy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858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⚠ Câu về grade/permission/appeal bị classify "Technical" → auto-reply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187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↘ SV tin AI sai → trust bị phá vỡ → ngừng dùng hệ thống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749040"/>
            <a:ext cx="3931920" cy="749808"/>
          </a:xfrm>
          <a:prstGeom prst="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✅ FIX: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023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Force escalate với keywords: ["grade","deadline","permission","appeal","policy"]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Kịch Bản Triển Khai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788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🟡 Conservative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khóa · 100 SV · FAQ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578608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Trust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53312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60/100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2578608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Helpful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53312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40%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2578608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35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Anxiety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9352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↓20%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2578608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65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 saving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53312" y="34655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~4h/tuần tiết kiệm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</a:rPr>
              <a:t>Giải busywork, SV vẫn phụ thuộc TA cho debug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63824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63824" y="822960"/>
            <a:ext cx="27889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8229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Realistic 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73552" y="1417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khóa · 150 SV · FAQ + Debug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3552" y="1828800"/>
            <a:ext cx="2578608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Trust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61104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78/100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73552" y="2359152"/>
            <a:ext cx="2578608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Helpful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61104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75%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73552" y="2889504"/>
            <a:ext cx="2578608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2935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Anxiety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61104" y="29352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↓40%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73552" y="3419856"/>
            <a:ext cx="2578608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465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 saving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34655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~15h/tuần tiết kiệm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73552" y="39776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</a:rPr>
              <a:t>AI = learning partner. SV tự debug, TA mentoring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71616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71616" y="82296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8229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🔵 Optimistic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81344" y="1417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khóa · 400 SV · Full ecosystem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81344" y="1828800"/>
            <a:ext cx="2578608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Trust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68896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82/100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81344" y="2359152"/>
            <a:ext cx="2578608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Helpful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68896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80%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81344" y="2889504"/>
            <a:ext cx="2578608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2935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Anxiety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68896" y="29352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↓70%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81344" y="3419856"/>
            <a:ext cx="2578608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3465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 saving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68896" y="34655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~40h/tuần tiết kiệm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181344" y="39776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</a:rPr>
              <a:t>Self-improving KB. TA = coach, SV teach peers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Chi Phí &amp; ROI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2062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Chi Phí Pilot (8 tuần · 150 SV)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Dev &amp; 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$45,000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4023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LLM API (multi-tier)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$18,000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40280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$8,000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4023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$5,000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$8,000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4023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TA Training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$2,000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114800"/>
            <a:ext cx="40233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PILOT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4114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$86,000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Lợi Ích (Year 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325880"/>
            <a:ext cx="39319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3258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TA savings (15h/wk × $80 × 50w)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1325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+$60,000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189280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89280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SV retention +5% (7–8 SV × $2k)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18928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+$16,000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2459736"/>
            <a:ext cx="39319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45973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API cost (multi-tier routing)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245973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$92,000/yr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302666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02666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ROI (Realistic scenario)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302666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+$74,000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00600" y="3657600"/>
            <a:ext cx="39319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657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🚀 Scaling Path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1. M1–2: Pilot 150 SV → ROI 1.85×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2. M3–4: 3 khóa, 450 SV, shared KB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3. M5–6: LMS native plugin (Canvas/Moodle)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4. Y2+: 8+ courses, multi-language Vi/En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3F63">
              <a:alpha val="50000"/>
            </a:srgbClr>
          </a:solidFill>
          <a:ln w="12700">
            <a:solidFill>
              <a:srgbClr val="2D3F63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Nhóm Phát Triển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</a:rPr>
              <a:t>C3-C401-Day05  ·  VinUni–VinSchool Track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804672"/>
          </a:xfrm>
          <a:prstGeom prst="rect">
            <a:avLst/>
          </a:prstGeom>
          <a:solidFill>
            <a:srgbClr val="2D3F63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53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Hoàng Đức Nghĩa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Canvas · Product Strategy · Cost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114800" cy="804672"/>
          </a:xfrm>
          <a:prstGeom prst="rect">
            <a:avLst/>
          </a:prstGeom>
          <a:solidFill>
            <a:srgbClr val="2D3F63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402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Nguyễn Thành Vinh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24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Failure Modes · Risk Analysis · TA Dashboard 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114800" cy="804672"/>
          </a:xfrm>
          <a:prstGeom prst="rect">
            <a:avLst/>
          </a:prstGeom>
          <a:solidFill>
            <a:srgbClr val="2D3F63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73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Nguyễn Trọng Minh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User Stories · KB Ingestion · Guardrails Design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1280160"/>
            <a:ext cx="4114800" cy="804672"/>
          </a:xfrm>
          <a:prstGeom prst="rect">
            <a:avLst/>
          </a:prstGeom>
          <a:solidFill>
            <a:srgbClr val="2D3F63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8016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353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Trịnh Xuân Đạt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Eval Metrics · Financial ROI · Budget Control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240280"/>
            <a:ext cx="4114800" cy="804672"/>
          </a:xfrm>
          <a:prstGeom prst="rect">
            <a:avLst/>
          </a:prstGeom>
          <a:solidFill>
            <a:srgbClr val="2D3F63"/>
          </a:solidFill>
          <a:ln w="12700">
            <a:solidFill>
              <a:srgbClr val="3D5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2402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Lê Văn Quang Trung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624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Agent Architecture (LangGraph) · Inference Routing · Cache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61688"/>
            <a:ext cx="365760" cy="3657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42976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B4A"/>
                </a:solidFill>
              </a:rPr>
              <a:t>"Từ chờ 24 giờ → nhận trả lời trong 3 giây — 24/7, không cần TA trực."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Online TA</dc:title>
  <dc:subject>PptxGenJS Presentation</dc:subject>
  <dc:creator>PptxGenJS</dc:creator>
  <cp:lastModifiedBy>PptxGenJS</cp:lastModifiedBy>
  <cp:revision>1</cp:revision>
  <dcterms:created xsi:type="dcterms:W3CDTF">2026-04-09T08:32:51Z</dcterms:created>
  <dcterms:modified xsi:type="dcterms:W3CDTF">2026-04-09T08:32:51Z</dcterms:modified>
</cp:coreProperties>
</file>